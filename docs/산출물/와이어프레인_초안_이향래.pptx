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  <p:sldId id="261" r:id="rId3"/>
    <p:sldId id="262" r:id="rId4"/>
    <p:sldId id="264" r:id="rId5"/>
    <p:sldId id="263" r:id="rId6"/>
    <p:sldId id="266" r:id="rId7"/>
    <p:sldId id="269" r:id="rId8"/>
    <p:sldId id="268" r:id="rId9"/>
    <p:sldId id="267" r:id="rId10"/>
    <p:sldId id="25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39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81F04-D19E-4FB8-A10E-08FF0227156A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A57B8-48C8-4F41-8759-D89BA0A20E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912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81F04-D19E-4FB8-A10E-08FF0227156A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A57B8-48C8-4F41-8759-D89BA0A20E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207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81F04-D19E-4FB8-A10E-08FF0227156A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A57B8-48C8-4F41-8759-D89BA0A20E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433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81F04-D19E-4FB8-A10E-08FF0227156A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A57B8-48C8-4F41-8759-D89BA0A20E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575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81F04-D19E-4FB8-A10E-08FF0227156A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A57B8-48C8-4F41-8759-D89BA0A20E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88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81F04-D19E-4FB8-A10E-08FF0227156A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A57B8-48C8-4F41-8759-D89BA0A20E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725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81F04-D19E-4FB8-A10E-08FF0227156A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A57B8-48C8-4F41-8759-D89BA0A20E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698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81F04-D19E-4FB8-A10E-08FF0227156A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A57B8-48C8-4F41-8759-D89BA0A20E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3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81F04-D19E-4FB8-A10E-08FF0227156A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A57B8-48C8-4F41-8759-D89BA0A20E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01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81F04-D19E-4FB8-A10E-08FF0227156A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A57B8-48C8-4F41-8759-D89BA0A20E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790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81F04-D19E-4FB8-A10E-08FF0227156A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A57B8-48C8-4F41-8759-D89BA0A20E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862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81F04-D19E-4FB8-A10E-08FF0227156A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A57B8-48C8-4F41-8759-D89BA0A20E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124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eongnam.go.kr/health/1002192/11434/contents.do#none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1931769" y="227748"/>
            <a:ext cx="8328463" cy="6402505"/>
            <a:chOff x="1931769" y="227748"/>
            <a:chExt cx="8328463" cy="6402505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31769" y="227748"/>
              <a:ext cx="8328463" cy="6402505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4563687" y="1421476"/>
              <a:ext cx="3167149" cy="698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0" y="3882381"/>
            <a:ext cx="1927181" cy="28763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67000" y="706135"/>
            <a:ext cx="5321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rgbClr val="00B0F0"/>
                </a:solidFill>
              </a:rPr>
              <a:t>운동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 운동커뮤니티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 구독서비스소개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식단</a:t>
            </a:r>
            <a:r>
              <a:rPr lang="en-US" altLang="ko-KR" sz="1600" dirty="0" smtClean="0">
                <a:solidFill>
                  <a:srgbClr val="00B0F0"/>
                </a:solidFill>
              </a:rPr>
              <a:t>/Q&amp;A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13600" y="755780"/>
            <a:ext cx="60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 smtClean="0">
                <a:solidFill>
                  <a:srgbClr val="C00000"/>
                </a:solidFill>
              </a:rPr>
              <a:t>구독중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200" y="1654263"/>
            <a:ext cx="3319462" cy="39677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07308" y="1319948"/>
            <a:ext cx="404109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/>
              <a:t> </a:t>
            </a:r>
            <a:endParaRPr lang="en-US" altLang="ko-KR" dirty="0"/>
          </a:p>
          <a:p>
            <a:pPr lvl="0">
              <a:defRPr/>
            </a:pPr>
            <a:r>
              <a:rPr lang="en-US" altLang="ko-KR" sz="2400" dirty="0"/>
              <a:t>AI </a:t>
            </a:r>
            <a:r>
              <a:rPr lang="ko-KR" altLang="en-US" sz="2400" dirty="0"/>
              <a:t>분석과 함께 스마트한 운동</a:t>
            </a:r>
            <a:r>
              <a:rPr lang="en-US" altLang="ko-KR" sz="2400" dirty="0"/>
              <a:t>, </a:t>
            </a:r>
            <a:r>
              <a:rPr lang="ko-KR" altLang="en-US" sz="2400" dirty="0"/>
              <a:t>더 쉬운 </a:t>
            </a:r>
            <a:r>
              <a:rPr lang="ko-KR" altLang="en-US" sz="2400" dirty="0" err="1" smtClean="0"/>
              <a:t>다어트</a:t>
            </a:r>
            <a:endParaRPr lang="en-US" altLang="ko-KR" sz="2400" dirty="0" smtClean="0"/>
          </a:p>
          <a:p>
            <a:pPr lvl="0">
              <a:defRPr/>
            </a:pPr>
            <a:endParaRPr lang="ko-KR" altLang="en-US" sz="2400" dirty="0"/>
          </a:p>
          <a:p>
            <a:pPr lvl="0">
              <a:defRPr/>
            </a:pPr>
            <a:r>
              <a:rPr lang="ko-KR" altLang="en-US" sz="1400" dirty="0"/>
              <a:t>나의  맞는 운동과 식단을 웹에서 간편하게 기록하고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건강지수와</a:t>
            </a:r>
            <a:r>
              <a:rPr lang="en-US" altLang="ko-KR" sz="1400" dirty="0"/>
              <a:t>(BMI, </a:t>
            </a:r>
            <a:r>
              <a:rPr lang="ko-KR" altLang="en-US" sz="1400" dirty="0"/>
              <a:t>기초대사량</a:t>
            </a:r>
            <a:r>
              <a:rPr lang="en-US" altLang="ko-KR" sz="1400" dirty="0"/>
              <a:t>)</a:t>
            </a:r>
            <a:r>
              <a:rPr lang="ko-KR" altLang="en-US" sz="1400" dirty="0"/>
              <a:t> 몸의 변화를 확인하세요</a:t>
            </a:r>
            <a:r>
              <a:rPr lang="en-US" altLang="ko-KR" sz="1400" dirty="0"/>
              <a:t>. </a:t>
            </a:r>
            <a:endParaRPr lang="en-US" altLang="ko-KR" dirty="0"/>
          </a:p>
          <a:p>
            <a:pPr lvl="0">
              <a:defRPr/>
            </a:pPr>
            <a:r>
              <a:rPr lang="ko-KR" altLang="en-US" sz="1400" dirty="0"/>
              <a:t>전문 피트니스 지식을 바탕으로 맞춤 가이드를 제공합니다</a:t>
            </a:r>
            <a:r>
              <a:rPr lang="en-US" altLang="ko-KR" sz="1400" dirty="0"/>
              <a:t>. </a:t>
            </a:r>
            <a:endParaRPr lang="ko-KR" altLang="en-US" sz="1400" dirty="0"/>
          </a:p>
        </p:txBody>
      </p:sp>
      <p:sp>
        <p:nvSpPr>
          <p:cNvPr id="10" name="아래쪽 화살표 9"/>
          <p:cNvSpPr/>
          <p:nvPr/>
        </p:nvSpPr>
        <p:spPr>
          <a:xfrm>
            <a:off x="10972800" y="1955800"/>
            <a:ext cx="812800" cy="16891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10243" y="391886"/>
            <a:ext cx="653143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메인화면</a:t>
            </a:r>
            <a:endParaRPr lang="ko-KR" altLang="en-US" dirty="0"/>
          </a:p>
        </p:txBody>
      </p:sp>
      <p:sp>
        <p:nvSpPr>
          <p:cNvPr id="13" name="왼쪽으로 구부러진 화살표 12"/>
          <p:cNvSpPr/>
          <p:nvPr/>
        </p:nvSpPr>
        <p:spPr>
          <a:xfrm>
            <a:off x="9999661" y="3644900"/>
            <a:ext cx="536109" cy="100874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왼쪽으로 구부러진 화살표 13"/>
          <p:cNvSpPr/>
          <p:nvPr/>
        </p:nvSpPr>
        <p:spPr>
          <a:xfrm rot="9616778">
            <a:off x="9564833" y="3918683"/>
            <a:ext cx="480623" cy="1258269"/>
          </a:xfrm>
          <a:prstGeom prst="curvedLeftArrow">
            <a:avLst>
              <a:gd name="adj1" fmla="val 50000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28518" y="4382535"/>
            <a:ext cx="1480457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시작하기 </a:t>
            </a:r>
            <a:r>
              <a:rPr lang="en-US" altLang="ko-KR" dirty="0" smtClean="0"/>
              <a:t>(</a:t>
            </a:r>
            <a:r>
              <a:rPr lang="ko-KR" altLang="en-US" dirty="0" smtClean="0"/>
              <a:t>회원가입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8324687" y="5675717"/>
            <a:ext cx="148045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동적인 효과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110976" y="1313475"/>
            <a:ext cx="110822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홈페이지 디자인  참조 예정</a:t>
            </a:r>
            <a:r>
              <a:rPr lang="en-US" altLang="ko-KR" dirty="0"/>
              <a:t>:https://sentif.ai/</a:t>
            </a:r>
            <a:r>
              <a:rPr lang="en-US" altLang="ko-KR" dirty="0" err="1"/>
              <a:t>kr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0174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1931769" y="227748"/>
            <a:ext cx="8328463" cy="6402505"/>
            <a:chOff x="1931769" y="227748"/>
            <a:chExt cx="8328463" cy="6402505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31769" y="227748"/>
              <a:ext cx="8328463" cy="6402505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4563687" y="1421476"/>
              <a:ext cx="3167149" cy="698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2667000" y="706135"/>
            <a:ext cx="5321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rgbClr val="00B0F0"/>
                </a:solidFill>
              </a:rPr>
              <a:t>운동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 운동커뮤니티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 구독서비스소개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식단</a:t>
            </a:r>
            <a:r>
              <a:rPr lang="en-US" altLang="ko-KR" sz="1600" dirty="0" smtClean="0">
                <a:solidFill>
                  <a:srgbClr val="00B0F0"/>
                </a:solidFill>
              </a:rPr>
              <a:t>/Q&amp;A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13600" y="755780"/>
            <a:ext cx="60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 smtClean="0">
                <a:solidFill>
                  <a:srgbClr val="C00000"/>
                </a:solidFill>
              </a:rPr>
              <a:t>구독중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07307" y="1319948"/>
            <a:ext cx="7442879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altLang="ko-KR" b="1" dirty="0" smtClean="0"/>
              <a:t> </a:t>
            </a:r>
            <a:endParaRPr lang="en-US" altLang="ko-KR" b="1" dirty="0"/>
          </a:p>
          <a:p>
            <a:pPr lvl="0" algn="ctr">
              <a:defRPr/>
            </a:pPr>
            <a:r>
              <a:rPr lang="ko-KR" altLang="en-US" sz="2400" b="1" dirty="0" smtClean="0"/>
              <a:t>운동</a:t>
            </a:r>
            <a:r>
              <a:rPr lang="en-US" altLang="ko-KR" sz="2400" b="1" dirty="0" smtClean="0"/>
              <a:t>, </a:t>
            </a:r>
            <a:r>
              <a:rPr lang="ko-KR" altLang="en-US" sz="2400" b="1" dirty="0" smtClean="0"/>
              <a:t>식단</a:t>
            </a:r>
            <a:r>
              <a:rPr lang="en-US" altLang="ko-KR" sz="2400" b="1" dirty="0" smtClean="0"/>
              <a:t>, BMI </a:t>
            </a:r>
            <a:r>
              <a:rPr lang="ko-KR" altLang="en-US" sz="2400" b="1" dirty="0" smtClean="0"/>
              <a:t>관리까지 한번에 </a:t>
            </a:r>
            <a:r>
              <a:rPr lang="en-US" altLang="ko-KR" sz="2400" b="1" dirty="0" err="1" smtClean="0"/>
              <a:t>HomeFit</a:t>
            </a:r>
            <a:r>
              <a:rPr lang="ko-KR" altLang="en-US" sz="2400" b="1" dirty="0" smtClean="0"/>
              <a:t>에서 </a:t>
            </a:r>
            <a:endParaRPr lang="ko-KR" altLang="en-US" sz="2400" b="1" dirty="0"/>
          </a:p>
        </p:txBody>
      </p:sp>
      <p:sp>
        <p:nvSpPr>
          <p:cNvPr id="10" name="아래쪽 화살표 9"/>
          <p:cNvSpPr/>
          <p:nvPr/>
        </p:nvSpPr>
        <p:spPr>
          <a:xfrm>
            <a:off x="10972800" y="1955800"/>
            <a:ext cx="812800" cy="16891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10243" y="391886"/>
            <a:ext cx="653143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메인화면</a:t>
            </a:r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533880" y="2431018"/>
            <a:ext cx="1956478" cy="184665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>
                <a:solidFill>
                  <a:srgbClr val="0070C0"/>
                </a:solidFill>
              </a:rPr>
              <a:t>기록</a:t>
            </a:r>
            <a:endParaRPr lang="en-US" altLang="ko-KR" sz="1200" b="1" dirty="0" smtClean="0">
              <a:solidFill>
                <a:srgbClr val="0070C0"/>
              </a:solidFill>
            </a:endParaRPr>
          </a:p>
          <a:p>
            <a:pPr algn="ctr"/>
            <a:endParaRPr lang="en-US" altLang="ko-KR" sz="1200" dirty="0" smtClean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신체 기록</a:t>
            </a:r>
            <a:endParaRPr lang="en-US" altLang="ko-KR" sz="1200" dirty="0" smtClean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BMI, </a:t>
            </a:r>
            <a:r>
              <a:rPr lang="ko-KR" altLang="en-US" sz="1200" dirty="0" smtClean="0"/>
              <a:t>기초대사량 기록</a:t>
            </a:r>
            <a:endParaRPr lang="en-US" altLang="ko-KR" sz="1200" dirty="0" smtClean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식단 기록</a:t>
            </a:r>
            <a:endParaRPr lang="ko-KR" altLang="en-US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4895702" y="2431018"/>
            <a:ext cx="1956478" cy="184665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>
                <a:solidFill>
                  <a:srgbClr val="0070C0"/>
                </a:solidFill>
              </a:rPr>
              <a:t>분석 및 추천</a:t>
            </a:r>
            <a:endParaRPr lang="en-US" altLang="ko-KR" sz="1200" b="1" dirty="0" smtClean="0">
              <a:solidFill>
                <a:srgbClr val="0070C0"/>
              </a:solidFill>
            </a:endParaRPr>
          </a:p>
          <a:p>
            <a:pPr algn="ctr"/>
            <a:endParaRPr lang="en-US" altLang="ko-KR" sz="1200" dirty="0" smtClean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 smtClean="0"/>
              <a:t>맞춤운동</a:t>
            </a:r>
            <a:endParaRPr lang="en-US" altLang="ko-KR" sz="1200" dirty="0" smtClean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 smtClean="0"/>
              <a:t>맞춤식단</a:t>
            </a:r>
            <a:endParaRPr lang="en-US" altLang="ko-KR" sz="1200" dirty="0" smtClean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AI </a:t>
            </a:r>
            <a:r>
              <a:rPr lang="ko-KR" altLang="en-US" sz="1200" dirty="0" smtClean="0"/>
              <a:t>칼로리 분석</a:t>
            </a:r>
            <a:endParaRPr lang="ko-KR" altLang="en-US" sz="1200" dirty="0"/>
          </a:p>
        </p:txBody>
      </p:sp>
      <p:sp>
        <p:nvSpPr>
          <p:cNvPr id="22" name="TextBox 21"/>
          <p:cNvSpPr txBox="1"/>
          <p:nvPr/>
        </p:nvSpPr>
        <p:spPr>
          <a:xfrm>
            <a:off x="7257524" y="2431018"/>
            <a:ext cx="1956478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 smtClean="0">
                <a:solidFill>
                  <a:srgbClr val="0070C0"/>
                </a:solidFill>
              </a:rPr>
              <a:t>목표 달성</a:t>
            </a:r>
            <a:endParaRPr lang="en-US" altLang="ko-KR" sz="1200" dirty="0" smtClean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다이어트</a:t>
            </a:r>
            <a:endParaRPr lang="en-US" altLang="ko-KR" sz="1200" dirty="0" smtClean="0"/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건강한 몸 만들기</a:t>
            </a:r>
            <a:endParaRPr lang="ko-KR" altLang="en-US" sz="1200" dirty="0"/>
          </a:p>
        </p:txBody>
      </p:sp>
      <p:sp>
        <p:nvSpPr>
          <p:cNvPr id="24" name="이등변 삼각형 23"/>
          <p:cNvSpPr/>
          <p:nvPr/>
        </p:nvSpPr>
        <p:spPr>
          <a:xfrm rot="5400000">
            <a:off x="4577862" y="3229912"/>
            <a:ext cx="288689" cy="24887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이등변 삼각형 24"/>
          <p:cNvSpPr/>
          <p:nvPr/>
        </p:nvSpPr>
        <p:spPr>
          <a:xfrm rot="5400000">
            <a:off x="6939684" y="3229913"/>
            <a:ext cx="288689" cy="24887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23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1931769" y="227748"/>
            <a:ext cx="8328463" cy="6402505"/>
            <a:chOff x="1931769" y="227748"/>
            <a:chExt cx="8328463" cy="6402505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31769" y="227748"/>
              <a:ext cx="8328463" cy="6402505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4563687" y="1421476"/>
              <a:ext cx="3167149" cy="698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2667000" y="706135"/>
            <a:ext cx="5321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rgbClr val="00B0F0"/>
                </a:solidFill>
              </a:rPr>
              <a:t>운동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 운동커뮤니티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 구독서비스소개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식단</a:t>
            </a:r>
            <a:r>
              <a:rPr lang="en-US" altLang="ko-KR" sz="1600" dirty="0" smtClean="0">
                <a:solidFill>
                  <a:srgbClr val="00B0F0"/>
                </a:solidFill>
              </a:rPr>
              <a:t>/Q&amp;A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13600" y="755780"/>
            <a:ext cx="60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 smtClean="0">
                <a:solidFill>
                  <a:srgbClr val="C00000"/>
                </a:solidFill>
              </a:rPr>
              <a:t>구독중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3614" y="1629775"/>
            <a:ext cx="2985179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altLang="ko-KR" b="1" dirty="0" smtClean="0">
                <a:solidFill>
                  <a:srgbClr val="0070C0"/>
                </a:solidFill>
              </a:rPr>
              <a:t> 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0" algn="ctr">
              <a:defRPr/>
            </a:pPr>
            <a:r>
              <a:rPr lang="ko-KR" altLang="en-US" sz="2400" b="1" dirty="0" smtClean="0">
                <a:solidFill>
                  <a:srgbClr val="0070C0"/>
                </a:solidFill>
              </a:rPr>
              <a:t>개인 </a:t>
            </a:r>
            <a:r>
              <a:rPr lang="ko-KR" altLang="en-US" sz="2400" b="1" dirty="0" err="1" smtClean="0">
                <a:solidFill>
                  <a:srgbClr val="0070C0"/>
                </a:solidFill>
              </a:rPr>
              <a:t>맞춤운동</a:t>
            </a:r>
            <a:endParaRPr lang="ko-KR" altLang="en-US" sz="2400" b="1" dirty="0">
              <a:solidFill>
                <a:srgbClr val="0070C0"/>
              </a:solidFill>
            </a:endParaRPr>
          </a:p>
        </p:txBody>
      </p:sp>
      <p:sp>
        <p:nvSpPr>
          <p:cNvPr id="10" name="아래쪽 화살표 9"/>
          <p:cNvSpPr/>
          <p:nvPr/>
        </p:nvSpPr>
        <p:spPr>
          <a:xfrm>
            <a:off x="10972800" y="1955800"/>
            <a:ext cx="812800" cy="16891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10243" y="391886"/>
            <a:ext cx="653143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메인화면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2233614" y="2844224"/>
            <a:ext cx="2732234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나의 </a:t>
            </a:r>
            <a:r>
              <a:rPr lang="en-US" altLang="ko-KR" sz="1400" dirty="0" smtClean="0"/>
              <a:t>BMI</a:t>
            </a:r>
            <a:r>
              <a:rPr lang="ko-KR" altLang="en-US" sz="1400" dirty="0" smtClean="0"/>
              <a:t>와 기초대사량 정보를 기반하여 맞춤형 운동으로 </a:t>
            </a:r>
            <a:r>
              <a:rPr lang="en-US" altLang="ko-KR" sz="1400" dirty="0" err="1" smtClean="0"/>
              <a:t>HomeFi</a:t>
            </a:r>
            <a:r>
              <a:rPr lang="en-US" altLang="ko-KR" sz="1400" dirty="0" err="1"/>
              <a:t>t</a:t>
            </a:r>
            <a:r>
              <a:rPr lang="ko-KR" altLang="en-US" sz="1400" dirty="0" smtClean="0"/>
              <a:t>을 경험해 보세요</a:t>
            </a:r>
            <a:r>
              <a:rPr lang="en-US" altLang="ko-KR" sz="1400" dirty="0" smtClean="0"/>
              <a:t>.  </a:t>
            </a:r>
            <a:endParaRPr lang="ko-KR" alt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2553311" y="3966375"/>
            <a:ext cx="2010376" cy="408623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err="1" smtClean="0">
                <a:solidFill>
                  <a:schemeClr val="bg1"/>
                </a:solidFill>
              </a:rPr>
              <a:t>맞춤운동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16562">
            <a:off x="6319683" y="1523076"/>
            <a:ext cx="2675851" cy="401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67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1931769" y="227748"/>
            <a:ext cx="8328463" cy="6402505"/>
            <a:chOff x="1931769" y="227748"/>
            <a:chExt cx="8328463" cy="6402505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31769" y="227748"/>
              <a:ext cx="8328463" cy="6402505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4563687" y="1421476"/>
              <a:ext cx="3167149" cy="698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2667000" y="706135"/>
            <a:ext cx="5321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rgbClr val="00B0F0"/>
                </a:solidFill>
              </a:rPr>
              <a:t>운동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 운동커뮤니티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 구독서비스소개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식단</a:t>
            </a:r>
            <a:r>
              <a:rPr lang="en-US" altLang="ko-KR" sz="1600" dirty="0" smtClean="0">
                <a:solidFill>
                  <a:srgbClr val="00B0F0"/>
                </a:solidFill>
              </a:rPr>
              <a:t>/Q&amp;A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13600" y="755780"/>
            <a:ext cx="60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 smtClean="0">
                <a:solidFill>
                  <a:srgbClr val="C00000"/>
                </a:solidFill>
              </a:rPr>
              <a:t>구독중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3614" y="1629775"/>
            <a:ext cx="2985179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altLang="ko-KR" b="1" dirty="0" smtClean="0">
                <a:solidFill>
                  <a:srgbClr val="0070C0"/>
                </a:solidFill>
              </a:rPr>
              <a:t> 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0" algn="ctr">
              <a:defRPr/>
            </a:pPr>
            <a:r>
              <a:rPr lang="ko-KR" altLang="en-US" sz="2400" b="1" dirty="0" err="1" smtClean="0">
                <a:solidFill>
                  <a:srgbClr val="0070C0"/>
                </a:solidFill>
              </a:rPr>
              <a:t>몸변화</a:t>
            </a:r>
            <a:r>
              <a:rPr lang="ko-KR" altLang="en-US" sz="2400" b="1" dirty="0" smtClean="0">
                <a:solidFill>
                  <a:srgbClr val="0070C0"/>
                </a:solidFill>
              </a:rPr>
              <a:t> 기록</a:t>
            </a:r>
            <a:endParaRPr lang="ko-KR" altLang="en-US" sz="2400" b="1" dirty="0">
              <a:solidFill>
                <a:srgbClr val="0070C0"/>
              </a:solidFill>
            </a:endParaRPr>
          </a:p>
        </p:txBody>
      </p:sp>
      <p:sp>
        <p:nvSpPr>
          <p:cNvPr id="10" name="아래쪽 화살표 9"/>
          <p:cNvSpPr/>
          <p:nvPr/>
        </p:nvSpPr>
        <p:spPr>
          <a:xfrm>
            <a:off x="10972800" y="1955800"/>
            <a:ext cx="812800" cy="16891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10243" y="391886"/>
            <a:ext cx="653143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메인화면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2233614" y="2844224"/>
            <a:ext cx="2732234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dirty="0" err="1" smtClean="0"/>
              <a:t>맞춤운동을</a:t>
            </a:r>
            <a:r>
              <a:rPr lang="ko-KR" altLang="en-US" sz="1400" dirty="0" smtClean="0"/>
              <a:t> 통해 건강하게 변하고 있는 내 몸의 변화를 간편하게 기록할 수 있습니다</a:t>
            </a:r>
            <a:r>
              <a:rPr lang="en-US" altLang="ko-KR" sz="1400" dirty="0" smtClean="0"/>
              <a:t>.  </a:t>
            </a:r>
            <a:endParaRPr lang="ko-KR" altLang="en-US" sz="14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973" y="1421476"/>
            <a:ext cx="3268133" cy="4902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53311" y="3966375"/>
            <a:ext cx="2010376" cy="408623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smtClean="0">
                <a:solidFill>
                  <a:schemeClr val="bg1"/>
                </a:solidFill>
              </a:rPr>
              <a:t>스마트 트레이닝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89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1948098" y="381635"/>
            <a:ext cx="8328463" cy="6402505"/>
            <a:chOff x="1931769" y="227748"/>
            <a:chExt cx="8328463" cy="6402505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31769" y="227748"/>
              <a:ext cx="8328463" cy="6402505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4563687" y="1421476"/>
              <a:ext cx="3167149" cy="698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2667000" y="909332"/>
            <a:ext cx="5321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rgbClr val="00B0F0"/>
                </a:solidFill>
              </a:rPr>
              <a:t>운동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 운동커뮤니티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 구독서비스소개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식단</a:t>
            </a:r>
            <a:r>
              <a:rPr lang="en-US" altLang="ko-KR" sz="1600" dirty="0" smtClean="0">
                <a:solidFill>
                  <a:srgbClr val="00B0F0"/>
                </a:solidFill>
              </a:rPr>
              <a:t>/Q&amp;A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13600" y="958977"/>
            <a:ext cx="60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 smtClean="0">
                <a:solidFill>
                  <a:srgbClr val="C00000"/>
                </a:solidFill>
              </a:rPr>
              <a:t>구독중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3614" y="1445109"/>
            <a:ext cx="2985179" cy="11079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altLang="ko-KR" b="1" dirty="0" smtClean="0">
                <a:solidFill>
                  <a:srgbClr val="0070C0"/>
                </a:solidFill>
              </a:rPr>
              <a:t> 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0" algn="ctr">
              <a:defRPr/>
            </a:pPr>
            <a:r>
              <a:rPr lang="ko-KR" altLang="en-US" sz="2400" b="1" dirty="0" smtClean="0">
                <a:solidFill>
                  <a:srgbClr val="0070C0"/>
                </a:solidFill>
              </a:rPr>
              <a:t>구독서비스로</a:t>
            </a:r>
            <a:endParaRPr lang="en-US" altLang="ko-KR" sz="2400" b="1" dirty="0" smtClean="0">
              <a:solidFill>
                <a:srgbClr val="0070C0"/>
              </a:solidFill>
            </a:endParaRPr>
          </a:p>
          <a:p>
            <a:pPr lvl="0" algn="ctr">
              <a:defRPr/>
            </a:pPr>
            <a:r>
              <a:rPr lang="ko-KR" altLang="en-US" sz="2400" b="1" dirty="0" smtClean="0">
                <a:solidFill>
                  <a:srgbClr val="0070C0"/>
                </a:solidFill>
              </a:rPr>
              <a:t>식단까지 완벽하게</a:t>
            </a:r>
            <a:endParaRPr lang="ko-KR" altLang="en-US" sz="2400" b="1" dirty="0">
              <a:solidFill>
                <a:srgbClr val="0070C0"/>
              </a:solidFill>
            </a:endParaRPr>
          </a:p>
        </p:txBody>
      </p:sp>
      <p:sp>
        <p:nvSpPr>
          <p:cNvPr id="10" name="아래쪽 화살표 9"/>
          <p:cNvSpPr/>
          <p:nvPr/>
        </p:nvSpPr>
        <p:spPr>
          <a:xfrm>
            <a:off x="10972800" y="1955800"/>
            <a:ext cx="812800" cy="16891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10243" y="391886"/>
            <a:ext cx="653143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메인화면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2233614" y="2844224"/>
            <a:ext cx="2732234" cy="31085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건강한 몸은 운동과 식단</a:t>
            </a:r>
            <a:r>
              <a:rPr lang="en-US" altLang="ko-KR" sz="1400" dirty="0" smtClean="0"/>
              <a:t>!</a:t>
            </a:r>
          </a:p>
          <a:p>
            <a:endParaRPr lang="en-US" altLang="ko-KR" sz="1400" dirty="0"/>
          </a:p>
          <a:p>
            <a:r>
              <a:rPr lang="ko-KR" altLang="en-US" sz="1400" dirty="0" smtClean="0"/>
              <a:t>구독서비스를 통해 보다 세심한 맞춤트레이닝을 스마트하게</a:t>
            </a:r>
            <a:r>
              <a:rPr lang="en-US" altLang="ko-KR" sz="1400" dirty="0" smtClean="0"/>
              <a:t>!</a:t>
            </a:r>
          </a:p>
          <a:p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 smtClean="0"/>
              <a:t>나에게 맞는 </a:t>
            </a:r>
            <a:r>
              <a:rPr lang="ko-KR" altLang="en-US" sz="1400" dirty="0" err="1" smtClean="0"/>
              <a:t>맞춤식단</a:t>
            </a:r>
            <a:r>
              <a:rPr lang="ko-KR" altLang="en-US" sz="1400" dirty="0" smtClean="0"/>
              <a:t> 추천</a:t>
            </a:r>
            <a:endParaRPr lang="en-US" altLang="ko-KR" sz="1400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 smtClean="0"/>
              <a:t>식단 이미지 업로드하면 </a:t>
            </a:r>
            <a:r>
              <a:rPr lang="en-US" altLang="ko-KR" sz="1400" dirty="0" smtClean="0"/>
              <a:t>AI</a:t>
            </a:r>
            <a:r>
              <a:rPr lang="ko-KR" altLang="en-US" sz="1400" dirty="0" smtClean="0"/>
              <a:t>를 통해 간편하게 칼로리 분석</a:t>
            </a:r>
            <a:endParaRPr lang="en-US" altLang="ko-KR" sz="1400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 smtClean="0"/>
              <a:t>ROM (</a:t>
            </a:r>
            <a:r>
              <a:rPr lang="ko-KR" altLang="en-US" sz="1400" dirty="0" smtClean="0"/>
              <a:t>관절가동범위</a:t>
            </a:r>
            <a:r>
              <a:rPr lang="en-US" altLang="ko-KR" sz="1400" dirty="0" smtClean="0"/>
              <a:t>) </a:t>
            </a:r>
            <a:r>
              <a:rPr lang="ko-KR" altLang="en-US" sz="1400" dirty="0" smtClean="0"/>
              <a:t>측정을 통해 </a:t>
            </a:r>
            <a:r>
              <a:rPr lang="ko-KR" altLang="en-US" sz="1400" dirty="0" err="1" smtClean="0"/>
              <a:t>부상없는</a:t>
            </a:r>
            <a:r>
              <a:rPr lang="ko-KR" altLang="en-US" sz="1400" dirty="0" smtClean="0"/>
              <a:t> 운동 가능</a:t>
            </a:r>
            <a:endParaRPr lang="en-US" altLang="ko-KR" sz="1400" dirty="0" smtClean="0"/>
          </a:p>
          <a:p>
            <a:endParaRPr lang="en-US" altLang="ko-KR" sz="1400" dirty="0" smtClean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973" y="1421476"/>
            <a:ext cx="3268133" cy="4902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69640" y="5915053"/>
            <a:ext cx="2010376" cy="408623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err="1" smtClean="0">
                <a:solidFill>
                  <a:schemeClr val="bg1"/>
                </a:solidFill>
              </a:rPr>
              <a:t>구독서비스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671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1948096" y="443647"/>
            <a:ext cx="8328463" cy="6402505"/>
            <a:chOff x="1931769" y="227748"/>
            <a:chExt cx="8328463" cy="6402505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31769" y="227748"/>
              <a:ext cx="8328463" cy="6402505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4563687" y="1421476"/>
              <a:ext cx="3167149" cy="698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2667000" y="943197"/>
            <a:ext cx="5321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rgbClr val="00B0F0"/>
                </a:solidFill>
              </a:rPr>
              <a:t>운동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 운동커뮤니티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 구독서비스소개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식단</a:t>
            </a:r>
            <a:r>
              <a:rPr lang="en-US" altLang="ko-KR" sz="1600" dirty="0" smtClean="0">
                <a:solidFill>
                  <a:srgbClr val="00B0F0"/>
                </a:solidFill>
              </a:rPr>
              <a:t>/Q&amp;A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13600" y="992842"/>
            <a:ext cx="60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 smtClean="0">
                <a:solidFill>
                  <a:srgbClr val="C00000"/>
                </a:solidFill>
              </a:rPr>
              <a:t>구독중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83917" y="2533210"/>
            <a:ext cx="5759342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altLang="ko-KR" b="1" dirty="0" smtClean="0">
                <a:solidFill>
                  <a:srgbClr val="0070C0"/>
                </a:solidFill>
              </a:rPr>
              <a:t> 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0" algn="ctr">
              <a:defRPr/>
            </a:pPr>
            <a:r>
              <a:rPr lang="ko-KR" altLang="en-US" sz="2400" b="1" dirty="0" smtClean="0">
                <a:solidFill>
                  <a:srgbClr val="0070C0"/>
                </a:solidFill>
              </a:rPr>
              <a:t>지금 당신의 건강한 변화를 시작하세요</a:t>
            </a:r>
            <a:endParaRPr lang="ko-KR" altLang="en-US" sz="2400" b="1" dirty="0">
              <a:solidFill>
                <a:srgbClr val="0070C0"/>
              </a:solidFill>
            </a:endParaRPr>
          </a:p>
        </p:txBody>
      </p:sp>
      <p:sp>
        <p:nvSpPr>
          <p:cNvPr id="10" name="아래쪽 화살표 9"/>
          <p:cNvSpPr/>
          <p:nvPr/>
        </p:nvSpPr>
        <p:spPr>
          <a:xfrm>
            <a:off x="10972800" y="1955800"/>
            <a:ext cx="812800" cy="16891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10243" y="391886"/>
            <a:ext cx="653143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메인화면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2599984" y="3854051"/>
            <a:ext cx="702468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400" dirty="0" err="1" smtClean="0"/>
              <a:t>HomeFit</a:t>
            </a:r>
            <a:r>
              <a:rPr lang="ko-KR" altLang="en-US" sz="1400" dirty="0" smtClean="0"/>
              <a:t>에 가입하고 스마트한 건강 관리를 시작하세요</a:t>
            </a:r>
            <a:r>
              <a:rPr lang="en-US" altLang="ko-KR" sz="1400" dirty="0" smtClean="0"/>
              <a:t>. </a:t>
            </a:r>
          </a:p>
          <a:p>
            <a:pPr algn="ctr"/>
            <a:r>
              <a:rPr lang="ko-KR" altLang="en-US" sz="1400" dirty="0" smtClean="0"/>
              <a:t>맞춤 운동</a:t>
            </a:r>
            <a:r>
              <a:rPr lang="en-US" altLang="ko-KR" sz="1400" dirty="0"/>
              <a:t> </a:t>
            </a:r>
            <a:r>
              <a:rPr lang="ko-KR" altLang="en-US" sz="1400" dirty="0" smtClean="0"/>
              <a:t>식단 </a:t>
            </a:r>
            <a:r>
              <a:rPr lang="ko-KR" altLang="en-US" sz="1400" dirty="0" err="1" smtClean="0"/>
              <a:t>몸변화</a:t>
            </a:r>
            <a:r>
              <a:rPr lang="ko-KR" altLang="en-US" sz="1400" dirty="0" smtClean="0"/>
              <a:t> 기록까지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모든 것을 하나로 </a:t>
            </a:r>
            <a:r>
              <a:rPr lang="en-US" altLang="ko-KR" sz="1400" dirty="0" err="1" smtClean="0"/>
              <a:t>HomeFit</a:t>
            </a:r>
            <a:r>
              <a:rPr lang="ko-KR" altLang="en-US" sz="1400" dirty="0" smtClean="0"/>
              <a:t>에서 경험해 보세요</a:t>
            </a:r>
            <a:r>
              <a:rPr lang="en-US" altLang="ko-KR" sz="1400" dirty="0" smtClean="0"/>
              <a:t>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6267" y="4812727"/>
            <a:ext cx="2362799" cy="408623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smtClean="0">
                <a:solidFill>
                  <a:schemeClr val="bg1"/>
                </a:solidFill>
              </a:rPr>
              <a:t>시작하기 </a:t>
            </a:r>
            <a:r>
              <a:rPr lang="en-US" altLang="ko-KR" b="1" dirty="0" smtClean="0">
                <a:solidFill>
                  <a:schemeClr val="bg1"/>
                </a:solidFill>
              </a:rPr>
              <a:t>(</a:t>
            </a:r>
            <a:r>
              <a:rPr lang="ko-KR" altLang="en-US" b="1" dirty="0" smtClean="0">
                <a:solidFill>
                  <a:schemeClr val="bg1"/>
                </a:solidFill>
              </a:rPr>
              <a:t>회원가입</a:t>
            </a:r>
            <a:r>
              <a:rPr lang="en-US" altLang="ko-KR" b="1" dirty="0" smtClean="0">
                <a:solidFill>
                  <a:schemeClr val="bg1"/>
                </a:solidFill>
              </a:rPr>
              <a:t>)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88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1948096" y="443647"/>
            <a:ext cx="8328463" cy="6402505"/>
            <a:chOff x="1931769" y="227748"/>
            <a:chExt cx="8328463" cy="6402505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31769" y="227748"/>
              <a:ext cx="8328463" cy="6402505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4563687" y="1421476"/>
              <a:ext cx="3167149" cy="698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2667000" y="943197"/>
            <a:ext cx="5321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rgbClr val="00B0F0"/>
                </a:solidFill>
              </a:rPr>
              <a:t>운동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 운동커뮤니티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 구독서비스소개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식단</a:t>
            </a:r>
            <a:r>
              <a:rPr lang="en-US" altLang="ko-KR" sz="1600" dirty="0" smtClean="0">
                <a:solidFill>
                  <a:srgbClr val="00B0F0"/>
                </a:solidFill>
              </a:rPr>
              <a:t>/Q&amp;A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13600" y="992842"/>
            <a:ext cx="60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 smtClean="0">
                <a:solidFill>
                  <a:srgbClr val="C00000"/>
                </a:solidFill>
              </a:rPr>
              <a:t>구독중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0243" y="391886"/>
            <a:ext cx="653143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운동화면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800" y="1637375"/>
            <a:ext cx="7180262" cy="366924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3200" y="5590609"/>
            <a:ext cx="1885950" cy="742950"/>
          </a:xfrm>
          <a:prstGeom prst="rect">
            <a:avLst/>
          </a:prstGeom>
        </p:spPr>
      </p:pic>
      <p:sp>
        <p:nvSpPr>
          <p:cNvPr id="12" name="오른쪽 화살표 11"/>
          <p:cNvSpPr/>
          <p:nvPr/>
        </p:nvSpPr>
        <p:spPr>
          <a:xfrm>
            <a:off x="10820400" y="3064933"/>
            <a:ext cx="677333" cy="711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15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066798" y="699821"/>
            <a:ext cx="9144000" cy="1095903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altLang="ko-KR" sz="1600" dirty="0">
                <a:hlinkClick r:id="rId2"/>
              </a:rPr>
              <a:t>https://www.seongnam.go.kr/health/1002192/11434/contents.do#none</a:t>
            </a:r>
            <a:r>
              <a:rPr lang="en-US" altLang="ko-KR" sz="1600" dirty="0"/>
              <a:t/>
            </a:r>
            <a:br>
              <a:rPr lang="en-US" altLang="ko-KR" sz="1600" dirty="0"/>
            </a:br>
            <a:r>
              <a:rPr lang="ko-KR" altLang="en-US" sz="1600" dirty="0" smtClean="0"/>
              <a:t>출처</a:t>
            </a:r>
            <a:r>
              <a:rPr lang="en-US" altLang="ko-KR" sz="1600" dirty="0" smtClean="0"/>
              <a:t>: </a:t>
            </a:r>
            <a:r>
              <a:rPr lang="ko-KR" altLang="en-US" sz="1600" dirty="0" err="1" smtClean="0"/>
              <a:t>성남보건소</a:t>
            </a:r>
            <a:r>
              <a:rPr lang="en-US" altLang="ko-KR" sz="1600" dirty="0"/>
              <a:t>, BMI</a:t>
            </a:r>
            <a:r>
              <a:rPr lang="ko-KR" altLang="en-US" sz="1600" dirty="0" smtClean="0"/>
              <a:t>지수</a:t>
            </a:r>
            <a:r>
              <a:rPr lang="en-US" altLang="ko-KR" sz="1600" dirty="0" smtClean="0"/>
              <a:t>, </a:t>
            </a:r>
            <a:r>
              <a:rPr lang="ko-KR" altLang="en-US" sz="1600" dirty="0"/>
              <a:t>기초대사량 </a:t>
            </a:r>
            <a:r>
              <a:rPr lang="ko-KR" altLang="en-US" sz="2000" b="1" dirty="0">
                <a:solidFill>
                  <a:srgbClr val="FF0000"/>
                </a:solidFill>
              </a:rPr>
              <a:t>자동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계산식  제공</a:t>
            </a:r>
            <a:r>
              <a:rPr lang="en-US" altLang="ko-KR" sz="2000" dirty="0" smtClean="0"/>
              <a:t/>
            </a:r>
            <a:br>
              <a:rPr lang="en-US" altLang="ko-KR" sz="2000" dirty="0" smtClean="0"/>
            </a:br>
            <a:r>
              <a:rPr lang="en-US" altLang="ko-KR" sz="1400" dirty="0"/>
              <a:t/>
            </a:r>
            <a:br>
              <a:rPr lang="en-US" altLang="ko-KR" sz="1400" dirty="0"/>
            </a:br>
            <a:r>
              <a:rPr lang="en-US" altLang="ko-KR" sz="1400" dirty="0" smtClean="0"/>
              <a:t>- BMI</a:t>
            </a:r>
            <a:r>
              <a:rPr lang="ko-KR" altLang="en-US" sz="1400" dirty="0" smtClean="0"/>
              <a:t>지수 계산식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몸무게</a:t>
            </a:r>
            <a:r>
              <a:rPr lang="en-US" altLang="ko-KR" sz="1400" dirty="0" smtClean="0"/>
              <a:t>/ (</a:t>
            </a:r>
            <a:r>
              <a:rPr lang="ko-KR" altLang="en-US" sz="1400" dirty="0" smtClean="0"/>
              <a:t>키</a:t>
            </a:r>
            <a:r>
              <a:rPr lang="en-US" altLang="ko-KR" sz="1400" dirty="0" smtClean="0"/>
              <a:t>(m)*</a:t>
            </a:r>
            <a:r>
              <a:rPr lang="ko-KR" altLang="en-US" sz="1400" dirty="0" smtClean="0"/>
              <a:t>키</a:t>
            </a:r>
            <a:r>
              <a:rPr lang="en-US" altLang="ko-KR" sz="1400" dirty="0" smtClean="0"/>
              <a:t>(m))</a:t>
            </a:r>
            <a:r>
              <a:rPr lang="en-US" altLang="ko-KR" sz="1600" dirty="0" smtClean="0"/>
              <a:t/>
            </a:r>
            <a:br>
              <a:rPr lang="en-US" altLang="ko-KR" sz="1600" dirty="0" smtClean="0"/>
            </a:br>
            <a:r>
              <a:rPr lang="ko-KR" altLang="en-US" sz="1600" dirty="0" smtClean="0"/>
              <a:t>기초대사량 계산식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남자 </a:t>
            </a:r>
            <a:r>
              <a:rPr lang="en-US" altLang="ko-KR" sz="1600" dirty="0"/>
              <a:t>: 66.47 + (13.75 × </a:t>
            </a:r>
            <a:r>
              <a:rPr lang="ko-KR" altLang="en-US" sz="1600" dirty="0"/>
              <a:t>체중</a:t>
            </a:r>
            <a:r>
              <a:rPr lang="en-US" altLang="ko-KR" sz="1600" dirty="0"/>
              <a:t>) + (5×</a:t>
            </a:r>
            <a:r>
              <a:rPr lang="ko-KR" altLang="en-US" sz="1600" dirty="0"/>
              <a:t>키</a:t>
            </a:r>
            <a:r>
              <a:rPr lang="en-US" altLang="ko-KR" sz="1600" dirty="0"/>
              <a:t>) - (6.76 × </a:t>
            </a:r>
            <a:r>
              <a:rPr lang="ko-KR" altLang="en-US" sz="1600" dirty="0"/>
              <a:t>나이</a:t>
            </a:r>
            <a:r>
              <a:rPr lang="en-US" altLang="ko-KR" sz="1600" dirty="0" smtClean="0"/>
              <a:t>)   </a:t>
            </a:r>
            <a:r>
              <a:rPr lang="ko-KR" altLang="en-US" sz="1600" dirty="0" smtClean="0"/>
              <a:t>여자 </a:t>
            </a:r>
            <a:r>
              <a:rPr lang="en-US" altLang="ko-KR" sz="1600" dirty="0"/>
              <a:t>: 655.1 + (9.56 × </a:t>
            </a:r>
            <a:r>
              <a:rPr lang="ko-KR" altLang="en-US" sz="1600" dirty="0"/>
              <a:t>체중</a:t>
            </a:r>
            <a:r>
              <a:rPr lang="en-US" altLang="ko-KR" sz="1600" dirty="0"/>
              <a:t>) + (1.85 × </a:t>
            </a:r>
            <a:r>
              <a:rPr lang="ko-KR" altLang="en-US" sz="1600" dirty="0"/>
              <a:t>키</a:t>
            </a:r>
            <a:r>
              <a:rPr lang="en-US" altLang="ko-KR" sz="1600" dirty="0"/>
              <a:t>) - (4.68 × </a:t>
            </a:r>
            <a:r>
              <a:rPr lang="ko-KR" altLang="en-US" sz="1600" dirty="0"/>
              <a:t>나이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 </a:t>
            </a:r>
            <a:r>
              <a:rPr lang="ko-KR" altLang="en-US" dirty="0"/>
              <a:t/>
            </a:r>
            <a:br>
              <a:rPr lang="ko-KR" altLang="en-US" dirty="0"/>
            </a:br>
            <a:endParaRPr lang="ko-KR" altLang="en-US" sz="1600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7543798" y="2421466"/>
          <a:ext cx="1854200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06657">
                  <a:extLst>
                    <a:ext uri="{9D8B030D-6E8A-4147-A177-3AD203B41FA5}">
                      <a16:colId xmlns:a16="http://schemas.microsoft.com/office/drawing/2014/main" val="3640008724"/>
                    </a:ext>
                  </a:extLst>
                </a:gridCol>
                <a:gridCol w="947543">
                  <a:extLst>
                    <a:ext uri="{9D8B030D-6E8A-4147-A177-3AD203B41FA5}">
                      <a16:colId xmlns:a16="http://schemas.microsoft.com/office/drawing/2014/main" val="1668974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키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dirty="0" smtClean="0">
                          <a:solidFill>
                            <a:sysClr val="windowText" lastClr="000000"/>
                          </a:solidFill>
                        </a:rPr>
                        <a:t>    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cm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192955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5607047" y="2421466"/>
          <a:ext cx="1854200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06657">
                  <a:extLst>
                    <a:ext uri="{9D8B030D-6E8A-4147-A177-3AD203B41FA5}">
                      <a16:colId xmlns:a16="http://schemas.microsoft.com/office/drawing/2014/main" val="3640008724"/>
                    </a:ext>
                  </a:extLst>
                </a:gridCol>
                <a:gridCol w="947543">
                  <a:extLst>
                    <a:ext uri="{9D8B030D-6E8A-4147-A177-3AD203B41FA5}">
                      <a16:colId xmlns:a16="http://schemas.microsoft.com/office/drawing/2014/main" val="1668974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몸무게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dirty="0" smtClean="0">
                          <a:solidFill>
                            <a:sysClr val="windowText" lastClr="000000"/>
                          </a:solidFill>
                        </a:rPr>
                        <a:t>     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kg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192955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663700" y="3009900"/>
          <a:ext cx="3810000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740069">
                  <a:extLst>
                    <a:ext uri="{9D8B030D-6E8A-4147-A177-3AD203B41FA5}">
                      <a16:colId xmlns:a16="http://schemas.microsoft.com/office/drawing/2014/main" val="3640008724"/>
                    </a:ext>
                  </a:extLst>
                </a:gridCol>
                <a:gridCol w="1069931">
                  <a:extLst>
                    <a:ext uri="{9D8B030D-6E8A-4147-A177-3AD203B41FA5}">
                      <a16:colId xmlns:a16="http://schemas.microsoft.com/office/drawing/2014/main" val="1668974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 smtClean="0"/>
                        <a:t>체질량</a:t>
                      </a:r>
                      <a:r>
                        <a:rPr lang="ko-KR" altLang="en-US" sz="1600" dirty="0" smtClean="0"/>
                        <a:t> 지수</a:t>
                      </a:r>
                      <a:r>
                        <a:rPr lang="en-US" altLang="ko-KR" sz="1600" dirty="0" smtClean="0"/>
                        <a:t>(BMI)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</a:rPr>
                        <a:t>     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(BMI)</a:t>
                      </a:r>
                      <a:endParaRPr lang="ko-KR" altLang="en-US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192955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5638798" y="3022600"/>
          <a:ext cx="3810000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740069">
                  <a:extLst>
                    <a:ext uri="{9D8B030D-6E8A-4147-A177-3AD203B41FA5}">
                      <a16:colId xmlns:a16="http://schemas.microsoft.com/office/drawing/2014/main" val="3640008724"/>
                    </a:ext>
                  </a:extLst>
                </a:gridCol>
                <a:gridCol w="1069931">
                  <a:extLst>
                    <a:ext uri="{9D8B030D-6E8A-4147-A177-3AD203B41FA5}">
                      <a16:colId xmlns:a16="http://schemas.microsoft.com/office/drawing/2014/main" val="1668974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기초대사량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kcal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</a:rPr>
                        <a:t>      </a:t>
                      </a:r>
                      <a:endParaRPr lang="ko-KR" altLang="en-US" sz="1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19295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568450" y="3581844"/>
            <a:ext cx="9042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* </a:t>
            </a:r>
            <a:r>
              <a:rPr lang="ko-KR" altLang="en-US" sz="1200" dirty="0" err="1" smtClean="0"/>
              <a:t>체질량지수</a:t>
            </a:r>
            <a:r>
              <a:rPr lang="en-US" altLang="ko-KR" sz="1200" dirty="0" smtClean="0"/>
              <a:t>(BMI-Body Mass Index)</a:t>
            </a:r>
            <a:r>
              <a:rPr lang="ko-KR" altLang="en-US" sz="1200" dirty="0" smtClean="0"/>
              <a:t>는 </a:t>
            </a:r>
            <a:r>
              <a:rPr lang="ko-KR" altLang="en-US" sz="1200" dirty="0" err="1" smtClean="0"/>
              <a:t>카우프지수로</a:t>
            </a:r>
            <a:r>
              <a:rPr lang="ko-KR" altLang="en-US" sz="1200" dirty="0" smtClean="0"/>
              <a:t> 비만을 평가하는 지수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세계적으로 쓰이는 </a:t>
            </a:r>
            <a:r>
              <a:rPr lang="ko-KR" altLang="en-US" sz="1200" dirty="0" err="1" smtClean="0"/>
              <a:t>공통표준</a:t>
            </a:r>
            <a:r>
              <a:rPr lang="ko-KR" altLang="en-US" sz="1200" dirty="0" smtClean="0"/>
              <a:t> 지수입니다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체지방의 정도를 표준체중보다 비교적 정확하게 반영할 수 있고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매우 간단히 규정할 수 있는 장점이 있습니다</a:t>
            </a:r>
            <a:r>
              <a:rPr lang="en-US" altLang="ko-KR" sz="1200" dirty="0" smtClean="0"/>
              <a:t>.  </a:t>
            </a:r>
          </a:p>
          <a:p>
            <a:endParaRPr lang="en-US" altLang="ko-KR" sz="1200" dirty="0"/>
          </a:p>
          <a:p>
            <a:r>
              <a:rPr lang="ko-KR" altLang="en-US" sz="1200" dirty="0" err="1" smtClean="0"/>
              <a:t>체질량지수</a:t>
            </a:r>
            <a:r>
              <a:rPr lang="ko-KR" altLang="en-US" sz="1200" dirty="0" smtClean="0"/>
              <a:t> 결과</a:t>
            </a:r>
            <a:endParaRPr lang="en-US" altLang="ko-KR" sz="1200" dirty="0" smtClean="0"/>
          </a:p>
          <a:p>
            <a:endParaRPr lang="en-US" altLang="ko-KR" sz="1200" dirty="0"/>
          </a:p>
          <a:p>
            <a:endParaRPr lang="en-US" altLang="ko-KR" sz="1200" dirty="0" smtClean="0"/>
          </a:p>
          <a:p>
            <a:endParaRPr lang="en-US" altLang="ko-KR" sz="1200" baseline="30000" dirty="0" smtClean="0"/>
          </a:p>
          <a:p>
            <a:endParaRPr lang="en-US" altLang="ko-KR" sz="1200" baseline="30000" dirty="0"/>
          </a:p>
          <a:p>
            <a:endParaRPr lang="en-US" altLang="ko-KR" sz="1200" baseline="30000" dirty="0" smtClean="0"/>
          </a:p>
          <a:p>
            <a:endParaRPr lang="en-US" altLang="ko-KR" sz="1200" baseline="30000" dirty="0" smtClean="0"/>
          </a:p>
          <a:p>
            <a:endParaRPr lang="en-US" altLang="ko-KR" sz="1200" baseline="30000" dirty="0"/>
          </a:p>
          <a:p>
            <a:endParaRPr lang="en-US" altLang="ko-KR" sz="1200" baseline="30000" dirty="0" smtClean="0"/>
          </a:p>
          <a:p>
            <a:pPr marL="171450" indent="-171450" algn="r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(</a:t>
            </a:r>
            <a:r>
              <a:rPr lang="ko-KR" altLang="en-US" sz="1200" dirty="0" smtClean="0"/>
              <a:t>참조</a:t>
            </a:r>
            <a:r>
              <a:rPr lang="en-US" altLang="ko-KR" sz="1200" dirty="0" smtClean="0"/>
              <a:t>. 2020 </a:t>
            </a:r>
            <a:r>
              <a:rPr lang="ko-KR" altLang="en-US" sz="1200" dirty="0" smtClean="0"/>
              <a:t>대한비만학회 진료지침</a:t>
            </a:r>
            <a:r>
              <a:rPr lang="en-US" altLang="ko-KR" sz="1200" dirty="0" smtClean="0"/>
              <a:t>)</a:t>
            </a:r>
          </a:p>
          <a:p>
            <a:pPr marL="171450" indent="-171450" algn="r">
              <a:buFont typeface="Arial" panose="020B0604020202020204" pitchFamily="34" charset="0"/>
              <a:buChar char="•"/>
            </a:pPr>
            <a:endParaRPr lang="en-US" altLang="ko-KR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기초대사량은 생명을 유지하는데 필요한 최소한의 에너지량을 말합니다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체온 유지나 호흡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심장박동 등 기초적인 생명활동을 위한 신진대사에 쓰이는 에너지량으로 보통 휴식 상태 또는 움직이지 않고 가만히 있을 때 기초대사량만큼의 에너지가 소모됩니다</a:t>
            </a:r>
            <a:r>
              <a:rPr lang="en-US" altLang="ko-KR" sz="1200" dirty="0" smtClean="0"/>
              <a:t>. </a:t>
            </a:r>
            <a:endParaRPr lang="ko-KR" altLang="en-US" sz="1200" baseline="30000" dirty="0"/>
          </a:p>
        </p:txBody>
      </p: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1663700" y="2394373"/>
          <a:ext cx="1854200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06657">
                  <a:extLst>
                    <a:ext uri="{9D8B030D-6E8A-4147-A177-3AD203B41FA5}">
                      <a16:colId xmlns:a16="http://schemas.microsoft.com/office/drawing/2014/main" val="3640008724"/>
                    </a:ext>
                  </a:extLst>
                </a:gridCol>
                <a:gridCol w="947543">
                  <a:extLst>
                    <a:ext uri="{9D8B030D-6E8A-4147-A177-3AD203B41FA5}">
                      <a16:colId xmlns:a16="http://schemas.microsoft.com/office/drawing/2014/main" val="1668974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성별</a:t>
                      </a:r>
                      <a:endParaRPr lang="ko-KR" altLang="en-US" sz="1600" dirty="0"/>
                    </a:p>
                  </a:txBody>
                  <a:tcPr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</a:t>
                      </a:r>
                      <a:r>
                        <a:rPr lang="ko-KR" altLang="en-US" sz="14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선택</a:t>
                      </a:r>
                      <a:r>
                        <a:rPr lang="en-US" altLang="ko-KR" sz="1400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-     </a:t>
                      </a:r>
                      <a:endParaRPr lang="ko-KR" altLang="en-US" sz="1400" b="0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192955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3619500" y="2394373"/>
          <a:ext cx="1854200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06657">
                  <a:extLst>
                    <a:ext uri="{9D8B030D-6E8A-4147-A177-3AD203B41FA5}">
                      <a16:colId xmlns:a16="http://schemas.microsoft.com/office/drawing/2014/main" val="3640008724"/>
                    </a:ext>
                  </a:extLst>
                </a:gridCol>
                <a:gridCol w="947543">
                  <a:extLst>
                    <a:ext uri="{9D8B030D-6E8A-4147-A177-3AD203B41FA5}">
                      <a16:colId xmlns:a16="http://schemas.microsoft.com/office/drawing/2014/main" val="1668974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smtClean="0"/>
                        <a:t>나이</a:t>
                      </a:r>
                      <a:r>
                        <a:rPr lang="en-US" altLang="ko-KR" sz="1600" dirty="0" smtClean="0"/>
                        <a:t>(</a:t>
                      </a:r>
                      <a:r>
                        <a:rPr lang="ko-KR" altLang="en-US" sz="1600" dirty="0" smtClean="0"/>
                        <a:t>만</a:t>
                      </a:r>
                      <a:r>
                        <a:rPr lang="en-US" altLang="ko-KR" sz="1600" dirty="0" smtClean="0"/>
                        <a:t>)</a:t>
                      </a:r>
                      <a:endParaRPr lang="ko-KR" altLang="en-US" sz="1600" dirty="0"/>
                    </a:p>
                  </a:txBody>
                  <a:tcPr>
                    <a:solidFill>
                      <a:srgbClr val="009999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600" dirty="0" smtClean="0">
                          <a:solidFill>
                            <a:sysClr val="windowText" lastClr="000000"/>
                          </a:solidFill>
                        </a:rPr>
                        <a:t>      </a:t>
                      </a:r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세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192955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1663700" y="4528928"/>
          <a:ext cx="8658224" cy="80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778">
                  <a:extLst>
                    <a:ext uri="{9D8B030D-6E8A-4147-A177-3AD203B41FA5}">
                      <a16:colId xmlns:a16="http://schemas.microsoft.com/office/drawing/2014/main" val="1614490387"/>
                    </a:ext>
                  </a:extLst>
                </a:gridCol>
                <a:gridCol w="1601859">
                  <a:extLst>
                    <a:ext uri="{9D8B030D-6E8A-4147-A177-3AD203B41FA5}">
                      <a16:colId xmlns:a16="http://schemas.microsoft.com/office/drawing/2014/main" val="3022499115"/>
                    </a:ext>
                  </a:extLst>
                </a:gridCol>
                <a:gridCol w="1473243">
                  <a:extLst>
                    <a:ext uri="{9D8B030D-6E8A-4147-A177-3AD203B41FA5}">
                      <a16:colId xmlns:a16="http://schemas.microsoft.com/office/drawing/2014/main" val="1969782845"/>
                    </a:ext>
                  </a:extLst>
                </a:gridCol>
                <a:gridCol w="1344626">
                  <a:extLst>
                    <a:ext uri="{9D8B030D-6E8A-4147-A177-3AD203B41FA5}">
                      <a16:colId xmlns:a16="http://schemas.microsoft.com/office/drawing/2014/main" val="2801182266"/>
                    </a:ext>
                  </a:extLst>
                </a:gridCol>
                <a:gridCol w="1461550">
                  <a:extLst>
                    <a:ext uri="{9D8B030D-6E8A-4147-A177-3AD203B41FA5}">
                      <a16:colId xmlns:a16="http://schemas.microsoft.com/office/drawing/2014/main" val="2753110260"/>
                    </a:ext>
                  </a:extLst>
                </a:gridCol>
                <a:gridCol w="1704168">
                  <a:extLst>
                    <a:ext uri="{9D8B030D-6E8A-4147-A177-3AD203B41FA5}">
                      <a16:colId xmlns:a16="http://schemas.microsoft.com/office/drawing/2014/main" val="1205585983"/>
                    </a:ext>
                  </a:extLst>
                </a:gridCol>
              </a:tblGrid>
              <a:tr h="4076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저체중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bg1"/>
                          </a:solidFill>
                        </a:rPr>
                        <a:t>정상</a:t>
                      </a:r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/>
                        <a:t>비만전단계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</a:t>
                      </a:r>
                      <a:r>
                        <a:rPr lang="ko-KR" altLang="en-US" sz="1200" dirty="0" smtClean="0"/>
                        <a:t>단계 비만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</a:t>
                      </a:r>
                      <a:r>
                        <a:rPr lang="ko-KR" altLang="en-US" sz="1200" dirty="0" smtClean="0"/>
                        <a:t>단계 비만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3</a:t>
                      </a:r>
                      <a:r>
                        <a:rPr lang="ko-KR" altLang="en-US" sz="1200" dirty="0" smtClean="0"/>
                        <a:t>단계 비만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7387689"/>
                  </a:ext>
                </a:extLst>
              </a:tr>
              <a:tr h="3956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18.5 kg/m</a:t>
                      </a:r>
                      <a:r>
                        <a:rPr lang="en-US" altLang="ko-KR" sz="1200" baseline="30000" dirty="0" smtClean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18.5~22.9 kg/m</a:t>
                      </a:r>
                      <a:r>
                        <a:rPr lang="en-US" altLang="ko-KR" sz="1200" baseline="30000" dirty="0" smtClean="0"/>
                        <a:t>2 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23~24.9 kg/m</a:t>
                      </a:r>
                      <a:r>
                        <a:rPr lang="en-US" altLang="ko-KR" sz="1200" baseline="30000" dirty="0" smtClean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25~29.9 kg/m</a:t>
                      </a:r>
                      <a:r>
                        <a:rPr lang="en-US" altLang="ko-KR" sz="1200" baseline="30000" dirty="0" smtClean="0"/>
                        <a:t>2 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30~34.9 kg/m</a:t>
                      </a:r>
                      <a:r>
                        <a:rPr lang="en-US" altLang="ko-KR" sz="1200" baseline="30000" dirty="0" smtClean="0"/>
                        <a:t>2 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/>
                        <a:t>≥</a:t>
                      </a:r>
                      <a:r>
                        <a:rPr lang="en-US" altLang="ko-KR" sz="1200" dirty="0" smtClean="0"/>
                        <a:t>35kg/m</a:t>
                      </a:r>
                      <a:r>
                        <a:rPr lang="en-US" altLang="ko-KR" sz="1200" baseline="30000" dirty="0" smtClean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6792231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1460500" y="2032000"/>
            <a:ext cx="9410700" cy="4597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460500" y="2034887"/>
            <a:ext cx="148590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건강 프로필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22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1948096" y="443647"/>
            <a:ext cx="8328463" cy="6402505"/>
            <a:chOff x="1931769" y="227748"/>
            <a:chExt cx="8328463" cy="6402505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31769" y="227748"/>
              <a:ext cx="8328463" cy="6402505"/>
            </a:xfrm>
            <a:prstGeom prst="rect">
              <a:avLst/>
            </a:prstGeom>
          </p:spPr>
        </p:pic>
        <p:sp>
          <p:nvSpPr>
            <p:cNvPr id="4" name="직사각형 3"/>
            <p:cNvSpPr/>
            <p:nvPr/>
          </p:nvSpPr>
          <p:spPr>
            <a:xfrm>
              <a:off x="4563687" y="1421476"/>
              <a:ext cx="3167149" cy="698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2667000" y="943197"/>
            <a:ext cx="5321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0070C0"/>
                </a:solidFill>
              </a:rPr>
              <a:t>운동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 운동커뮤니티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 구독서비스소개</a:t>
            </a:r>
            <a:r>
              <a:rPr lang="en-US" altLang="ko-KR" sz="1600" dirty="0" smtClean="0">
                <a:solidFill>
                  <a:srgbClr val="00B0F0"/>
                </a:solidFill>
              </a:rPr>
              <a:t>/</a:t>
            </a:r>
            <a:r>
              <a:rPr lang="ko-KR" altLang="en-US" sz="1600" dirty="0" smtClean="0">
                <a:solidFill>
                  <a:srgbClr val="00B0F0"/>
                </a:solidFill>
              </a:rPr>
              <a:t>식단</a:t>
            </a:r>
            <a:r>
              <a:rPr lang="en-US" altLang="ko-KR" sz="1600" dirty="0" smtClean="0">
                <a:solidFill>
                  <a:srgbClr val="00B0F0"/>
                </a:solidFill>
              </a:rPr>
              <a:t>/Q&amp;A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13600" y="992842"/>
            <a:ext cx="60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 smtClean="0">
                <a:solidFill>
                  <a:srgbClr val="C00000"/>
                </a:solidFill>
              </a:rPr>
              <a:t>구독중</a:t>
            </a:r>
            <a:endParaRPr lang="ko-KR" altLang="en-US" sz="1000" b="1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447979" y="1596980"/>
            <a:ext cx="2327221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altLang="ko-KR" b="1" dirty="0" smtClean="0">
                <a:solidFill>
                  <a:srgbClr val="0070C0"/>
                </a:solidFill>
              </a:rPr>
              <a:t> </a:t>
            </a:r>
            <a:endParaRPr lang="en-US" altLang="ko-KR" b="1" dirty="0">
              <a:solidFill>
                <a:srgbClr val="0070C0"/>
              </a:solidFill>
            </a:endParaRPr>
          </a:p>
          <a:p>
            <a:pPr lvl="0">
              <a:defRPr/>
            </a:pPr>
            <a:r>
              <a:rPr lang="ko-KR" altLang="en-US" sz="2400" b="1" dirty="0" smtClean="0">
                <a:solidFill>
                  <a:srgbClr val="0070C0"/>
                </a:solidFill>
              </a:rPr>
              <a:t>사전운동설문지</a:t>
            </a:r>
            <a:endParaRPr lang="ko-KR" altLang="en-US" sz="2400" b="1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0243" y="391886"/>
            <a:ext cx="653143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운동화면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979" y="2396059"/>
            <a:ext cx="6915150" cy="3619500"/>
          </a:xfrm>
          <a:prstGeom prst="rect">
            <a:avLst/>
          </a:prstGeom>
        </p:spPr>
      </p:pic>
      <p:sp>
        <p:nvSpPr>
          <p:cNvPr id="13" name="오른쪽 화살표 12"/>
          <p:cNvSpPr/>
          <p:nvPr/>
        </p:nvSpPr>
        <p:spPr>
          <a:xfrm>
            <a:off x="10820400" y="3064933"/>
            <a:ext cx="677333" cy="711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800" y="6015559"/>
            <a:ext cx="188595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70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809648"/>
              </p:ext>
            </p:extLst>
          </p:nvPr>
        </p:nvGraphicFramePr>
        <p:xfrm>
          <a:off x="579438" y="807828"/>
          <a:ext cx="7218362" cy="4069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4327">
                  <a:extLst>
                    <a:ext uri="{9D8B030D-6E8A-4147-A177-3AD203B41FA5}">
                      <a16:colId xmlns:a16="http://schemas.microsoft.com/office/drawing/2014/main" val="1614490387"/>
                    </a:ext>
                  </a:extLst>
                </a:gridCol>
                <a:gridCol w="2784035">
                  <a:extLst>
                    <a:ext uri="{9D8B030D-6E8A-4147-A177-3AD203B41FA5}">
                      <a16:colId xmlns:a16="http://schemas.microsoft.com/office/drawing/2014/main" val="3022499115"/>
                    </a:ext>
                  </a:extLst>
                </a:gridCol>
              </a:tblGrid>
              <a:tr h="6864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사전운동설문지 내용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7387689"/>
                  </a:ext>
                </a:extLst>
              </a:tr>
              <a:tr h="292532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aseline="0" dirty="0" smtClean="0"/>
                        <a:t>운동 목표는 어떻게 되나요</a:t>
                      </a:r>
                      <a:r>
                        <a:rPr lang="en-US" altLang="ko-KR" sz="1200" baseline="0" dirty="0" smtClean="0"/>
                        <a:t>? (</a:t>
                      </a:r>
                      <a:r>
                        <a:rPr lang="ko-KR" altLang="en-US" sz="1200" baseline="0" dirty="0" err="1" smtClean="0"/>
                        <a:t>옵셥</a:t>
                      </a:r>
                      <a:r>
                        <a:rPr lang="en-US" altLang="ko-KR" sz="1200" baseline="0" dirty="0" smtClean="0"/>
                        <a:t>: </a:t>
                      </a:r>
                      <a:r>
                        <a:rPr lang="ko-KR" altLang="en-US" sz="1200" baseline="0" dirty="0" smtClean="0"/>
                        <a:t>체중감량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자세 교정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근력 향상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상태 유지</a:t>
                      </a:r>
                      <a:r>
                        <a:rPr lang="en-US" altLang="ko-KR" sz="1200" baseline="0" dirty="0" smtClean="0"/>
                        <a:t>)</a:t>
                      </a:r>
                      <a:endParaRPr lang="en-US" altLang="ko-KR" sz="1200" baseline="0" dirty="0" smtClean="0"/>
                    </a:p>
                    <a:p>
                      <a:pPr algn="l" latinLnBrk="1"/>
                      <a:endParaRPr lang="en-US" altLang="ko-KR" sz="1200" baseline="0" dirty="0" smtClean="0"/>
                    </a:p>
                    <a:p>
                      <a:pPr algn="l" latinLnBrk="1"/>
                      <a:r>
                        <a:rPr lang="ko-KR" altLang="en-US" sz="1200" baseline="0" dirty="0" smtClean="0"/>
                        <a:t>당신의 </a:t>
                      </a:r>
                      <a:r>
                        <a:rPr lang="ko-KR" altLang="en-US" sz="1200" baseline="0" dirty="0" smtClean="0"/>
                        <a:t>직업 유형은 어디에 해당되나요</a:t>
                      </a:r>
                      <a:r>
                        <a:rPr lang="en-US" altLang="ko-KR" sz="1200" baseline="0" dirty="0" smtClean="0"/>
                        <a:t>? (</a:t>
                      </a:r>
                      <a:r>
                        <a:rPr lang="ko-KR" altLang="en-US" sz="1200" baseline="0" dirty="0" smtClean="0"/>
                        <a:t>옵션</a:t>
                      </a:r>
                      <a:r>
                        <a:rPr lang="en-US" altLang="ko-KR" sz="1200" baseline="0" dirty="0" smtClean="0"/>
                        <a:t>: </a:t>
                      </a:r>
                      <a:r>
                        <a:rPr lang="ko-KR" altLang="en-US" sz="1200" baseline="0" dirty="0" smtClean="0"/>
                        <a:t>사무직</a:t>
                      </a:r>
                      <a:r>
                        <a:rPr lang="en-US" altLang="ko-KR" sz="1200" baseline="0" dirty="0" smtClean="0"/>
                        <a:t>(</a:t>
                      </a:r>
                      <a:r>
                        <a:rPr lang="ko-KR" altLang="en-US" sz="1200" baseline="0" dirty="0" smtClean="0"/>
                        <a:t>앉아서 일함</a:t>
                      </a:r>
                      <a:r>
                        <a:rPr lang="en-US" altLang="ko-KR" sz="1200" baseline="0" dirty="0" smtClean="0"/>
                        <a:t>), </a:t>
                      </a:r>
                      <a:r>
                        <a:rPr lang="ko-KR" altLang="en-US" sz="1200" baseline="0" dirty="0" smtClean="0"/>
                        <a:t>서비스</a:t>
                      </a:r>
                      <a:r>
                        <a:rPr lang="en-US" altLang="ko-KR" sz="1200" baseline="0" dirty="0" smtClean="0"/>
                        <a:t>/</a:t>
                      </a:r>
                      <a:r>
                        <a:rPr lang="ko-KR" altLang="en-US" sz="1200" baseline="0" dirty="0" smtClean="0"/>
                        <a:t>영업직</a:t>
                      </a:r>
                      <a:r>
                        <a:rPr lang="en-US" altLang="ko-KR" sz="1200" baseline="0" dirty="0" smtClean="0"/>
                        <a:t>(</a:t>
                      </a:r>
                      <a:r>
                        <a:rPr lang="ko-KR" altLang="en-US" sz="1200" baseline="0" dirty="0" smtClean="0"/>
                        <a:t>서서 일함</a:t>
                      </a:r>
                      <a:r>
                        <a:rPr lang="en-US" altLang="ko-KR" sz="1200" baseline="0" dirty="0" smtClean="0"/>
                        <a:t>), </a:t>
                      </a:r>
                      <a:r>
                        <a:rPr lang="ko-KR" altLang="en-US" sz="1200" baseline="0" dirty="0" smtClean="0"/>
                        <a:t>육체 노동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자영업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주부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학생</a:t>
                      </a:r>
                      <a:r>
                        <a:rPr lang="en-US" altLang="ko-KR" sz="1200" baseline="0" dirty="0" smtClean="0"/>
                        <a:t>)</a:t>
                      </a:r>
                    </a:p>
                    <a:p>
                      <a:pPr algn="l" latinLnBrk="1"/>
                      <a:endParaRPr lang="en-US" altLang="ko-KR" sz="1200" baseline="0" dirty="0" smtClean="0"/>
                    </a:p>
                    <a:p>
                      <a:pPr algn="l" latinLnBrk="1"/>
                      <a:r>
                        <a:rPr lang="ko-KR" altLang="en-US" sz="1200" baseline="0" dirty="0" smtClean="0"/>
                        <a:t>평균적으로 당신의 활동량은</a:t>
                      </a:r>
                      <a:r>
                        <a:rPr lang="en-US" altLang="ko-KR" sz="1200" baseline="0" dirty="0" smtClean="0"/>
                        <a:t>? (</a:t>
                      </a:r>
                      <a:r>
                        <a:rPr lang="ko-KR" altLang="en-US" sz="1200" baseline="0" dirty="0" smtClean="0"/>
                        <a:t>옵션</a:t>
                      </a:r>
                      <a:r>
                        <a:rPr lang="en-US" altLang="ko-KR" sz="1200" baseline="0" dirty="0" smtClean="0"/>
                        <a:t>: </a:t>
                      </a:r>
                      <a:r>
                        <a:rPr lang="ko-KR" altLang="en-US" sz="1200" baseline="0" dirty="0" smtClean="0"/>
                        <a:t>앉음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서있음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움직임 많음</a:t>
                      </a:r>
                      <a:r>
                        <a:rPr lang="en-US" altLang="ko-KR" sz="1200" baseline="0" dirty="0" smtClean="0"/>
                        <a:t>) </a:t>
                      </a:r>
                    </a:p>
                    <a:p>
                      <a:pPr algn="l" latinLnBrk="1"/>
                      <a:endParaRPr lang="en-US" altLang="ko-KR" sz="1200" baseline="0" dirty="0" smtClean="0"/>
                    </a:p>
                    <a:p>
                      <a:pPr algn="l" latinLnBrk="1"/>
                      <a:r>
                        <a:rPr lang="ko-KR" altLang="en-US" sz="1200" baseline="0" dirty="0" smtClean="0"/>
                        <a:t>하루 평균 수면 시간은 어떻게 되나요</a:t>
                      </a:r>
                      <a:r>
                        <a:rPr lang="en-US" altLang="ko-KR" sz="1200" baseline="0" dirty="0" smtClean="0"/>
                        <a:t>?</a:t>
                      </a:r>
                    </a:p>
                    <a:p>
                      <a:pPr algn="l" latinLnBrk="1"/>
                      <a:endParaRPr lang="en-US" altLang="ko-KR" sz="1200" baseline="0" dirty="0" smtClean="0"/>
                    </a:p>
                    <a:p>
                      <a:pPr algn="l" latinLnBrk="1"/>
                      <a:r>
                        <a:rPr lang="ko-KR" altLang="en-US" sz="1200" baseline="0" dirty="0" smtClean="0"/>
                        <a:t>주로 언제 활동을 많이 하나요</a:t>
                      </a:r>
                      <a:r>
                        <a:rPr lang="en-US" altLang="ko-KR" sz="1200" baseline="0" dirty="0" smtClean="0"/>
                        <a:t>? (</a:t>
                      </a:r>
                      <a:r>
                        <a:rPr lang="ko-KR" altLang="en-US" sz="1200" baseline="0" dirty="0" smtClean="0"/>
                        <a:t>옵션</a:t>
                      </a:r>
                      <a:r>
                        <a:rPr lang="en-US" altLang="ko-KR" sz="1200" baseline="0" dirty="0" smtClean="0"/>
                        <a:t>: </a:t>
                      </a:r>
                      <a:r>
                        <a:rPr lang="ko-KR" altLang="en-US" sz="1200" baseline="0" dirty="0" smtClean="0"/>
                        <a:t>아침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저녁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일정하지 않음</a:t>
                      </a:r>
                      <a:r>
                        <a:rPr lang="en-US" altLang="ko-KR" sz="1200" baseline="0" dirty="0" smtClean="0"/>
                        <a:t>)</a:t>
                      </a:r>
                    </a:p>
                    <a:p>
                      <a:pPr algn="l" latinLnBrk="1"/>
                      <a:endParaRPr lang="en-US" altLang="ko-KR" sz="1200" baseline="0" dirty="0" smtClean="0"/>
                    </a:p>
                    <a:p>
                      <a:pPr algn="l" latinLnBrk="1"/>
                      <a:r>
                        <a:rPr lang="ko-KR" altLang="en-US" sz="1200" baseline="0" dirty="0" smtClean="0"/>
                        <a:t>현재 통증이 </a:t>
                      </a:r>
                      <a:r>
                        <a:rPr lang="ko-KR" altLang="en-US" sz="1200" baseline="0" dirty="0" err="1" smtClean="0"/>
                        <a:t>있응</a:t>
                      </a:r>
                      <a:r>
                        <a:rPr lang="ko-KR" altLang="en-US" sz="1200" baseline="0" dirty="0" smtClean="0"/>
                        <a:t> 부위가 있나요</a:t>
                      </a:r>
                      <a:r>
                        <a:rPr lang="en-US" altLang="ko-KR" sz="1200" baseline="0" dirty="0" smtClean="0"/>
                        <a:t>? (</a:t>
                      </a:r>
                      <a:r>
                        <a:rPr lang="ko-KR" altLang="en-US" sz="1200" baseline="0" dirty="0" smtClean="0"/>
                        <a:t>복수 옵션</a:t>
                      </a:r>
                      <a:r>
                        <a:rPr lang="en-US" altLang="ko-KR" sz="1200" baseline="0" dirty="0" smtClean="0"/>
                        <a:t>: </a:t>
                      </a:r>
                      <a:r>
                        <a:rPr lang="ko-KR" altLang="en-US" sz="1200" baseline="0" dirty="0" smtClean="0"/>
                        <a:t>목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어깨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허리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무릎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 손목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발목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없음</a:t>
                      </a:r>
                      <a:r>
                        <a:rPr lang="en-US" altLang="ko-KR" sz="1200" baseline="0" dirty="0" smtClean="0"/>
                        <a:t>)</a:t>
                      </a:r>
                    </a:p>
                    <a:p>
                      <a:pPr algn="l" latinLnBrk="1"/>
                      <a:endParaRPr lang="en-US" altLang="ko-KR" sz="1200" baseline="0" dirty="0" smtClean="0"/>
                    </a:p>
                    <a:p>
                      <a:pPr algn="l" latinLnBrk="1"/>
                      <a:r>
                        <a:rPr lang="ko-KR" altLang="en-US" sz="1200" baseline="0" dirty="0" smtClean="0"/>
                        <a:t>어떤 장비를 가지고 있나요</a:t>
                      </a:r>
                      <a:r>
                        <a:rPr lang="en-US" altLang="ko-KR" sz="1200" baseline="0" dirty="0" smtClean="0"/>
                        <a:t>? (</a:t>
                      </a:r>
                      <a:r>
                        <a:rPr lang="ko-KR" altLang="en-US" sz="1200" baseline="0" dirty="0" smtClean="0"/>
                        <a:t>복수 옵션</a:t>
                      </a:r>
                      <a:r>
                        <a:rPr lang="en-US" altLang="ko-KR" sz="1200" baseline="0" dirty="0" smtClean="0"/>
                        <a:t>: </a:t>
                      </a:r>
                      <a:r>
                        <a:rPr lang="ko-KR" altLang="en-US" sz="1200" baseline="0" dirty="0" smtClean="0"/>
                        <a:t>맨몸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밴드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err="1" smtClean="0"/>
                        <a:t>덤벨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기타</a:t>
                      </a:r>
                      <a:r>
                        <a:rPr lang="en-US" altLang="ko-KR" sz="1200" baseline="0" dirty="0" smtClean="0"/>
                        <a:t>)</a:t>
                      </a:r>
                      <a:endParaRPr lang="en-US" altLang="ko-KR" sz="1200" dirty="0" smtClean="0"/>
                    </a:p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/>
                        <a:t>이전 페이지 참조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6792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0116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544</Words>
  <Application>Microsoft Office PowerPoint</Application>
  <PresentationFormat>와이드스크린</PresentationFormat>
  <Paragraphs>130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https://www.seongnam.go.kr/health/1002192/11434/contents.do#none 출처: 성남보건소, BMI지수, 기초대사량 자동 계산식  제공  - BMI지수 계산식: 몸무게/ (키(m)*키(m)) 기초대사량 계산식: 남자 : 66.47 + (13.75 × 체중) + (5×키) - (6.76 × 나이)   여자 : 655.1 + (9.56 × 체중) + (1.85 × 키) - (4.68 × 나이)  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https://www.seongnam.go.kr/health/1002192/11434/contents.do#none 성남보건소, BMI지수, 기초대사량 자동 계산식 제공</dc:title>
  <dc:creator>human</dc:creator>
  <cp:lastModifiedBy>human</cp:lastModifiedBy>
  <cp:revision>29</cp:revision>
  <dcterms:created xsi:type="dcterms:W3CDTF">2025-11-25T01:29:11Z</dcterms:created>
  <dcterms:modified xsi:type="dcterms:W3CDTF">2025-11-26T06:38:22Z</dcterms:modified>
  <cp:version/>
</cp:coreProperties>
</file>